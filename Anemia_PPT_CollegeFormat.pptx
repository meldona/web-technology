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7" r:id="rId3"/>
    <p:sldId id="258" r:id="rId4"/>
    <p:sldId id="259" r:id="rId5"/>
    <p:sldId id="260" r:id="rId6"/>
    <p:sldId id="262" r:id="rId7"/>
    <p:sldId id="263" r:id="rId8"/>
    <p:sldId id="264" r:id="rId10"/>
    <p:sldId id="265" r:id="rId11"/>
    <p:sldId id="266" r:id="rId12"/>
    <p:sldId id="267" r:id="rId13"/>
    <p:sldId id="272" r:id="rId14"/>
    <p:sldId id="271" r:id="rId15"/>
    <p:sldId id="273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7A47-3FD8-4876-8A71-7A228218E6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AD7-992A-4D9B-BDAE-8161194F3DE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7A47-3FD8-4876-8A71-7A228218E6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AD7-992A-4D9B-BDAE-8161194F3DE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7A47-3FD8-4876-8A71-7A228218E6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AD7-992A-4D9B-BDAE-8161194F3DE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7A47-3FD8-4876-8A71-7A228218E64B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AD7-992A-4D9B-BDAE-8161194F3DE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7A47-3FD8-4876-8A71-7A228218E64B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AD7-992A-4D9B-BDAE-8161194F3DE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7A47-3FD8-4876-8A71-7A228218E64B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AD7-992A-4D9B-BDAE-8161194F3DE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7A47-3FD8-4876-8A71-7A228218E64B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AD7-992A-4D9B-BDAE-8161194F3DE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7A47-3FD8-4876-8A71-7A228218E64B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AD7-992A-4D9B-BDAE-8161194F3DE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7A47-3FD8-4876-8A71-7A228218E64B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AD7-992A-4D9B-BDAE-8161194F3DE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7A47-3FD8-4876-8A71-7A228218E6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AD7-992A-4D9B-BDAE-8161194F3DE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7A47-3FD8-4876-8A71-7A228218E6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AD7-992A-4D9B-BDAE-8161194F3DE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527A47-3FD8-4876-8A71-7A228218E6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4DAD7-992A-4D9B-BDAE-8161194F3DEA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gPurp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BgCream"/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BgWhiteRound"/>
          <p:cNvSpPr/>
          <p:nvPr/>
        </p:nvSpPr>
        <p:spPr>
          <a:xfrm>
            <a:off x="408038" y="396312"/>
            <a:ext cx="11425084" cy="601734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030A0"/>
            </a:solidFill>
          </a:ln>
        </p:spPr>
        <p:txBody>
          <a:bodyPr/>
          <a:lstStyle/>
          <a:p/>
        </p:txBody>
      </p:sp>
      <p:pic>
        <p:nvPicPr>
          <p:cNvPr id="104" name="CollegeLogo"/>
          <p:cNvPicPr/>
          <p:nvPr/>
        </p:nvPicPr>
        <p:blipFill>
          <a:blip r:embed="rId1"/>
          <a:stretch>
            <a:fillRect/>
          </a:stretch>
        </p:blipFill>
        <p:spPr>
          <a:xfrm>
            <a:off x="2741131" y="495591"/>
            <a:ext cx="6560185" cy="2116720"/>
          </a:xfrm>
          <a:prstGeom prst="rect">
            <a:avLst/>
          </a:prstGeom>
        </p:spPr>
      </p:pic>
      <p:sp>
        <p:nvSpPr>
          <p:cNvPr id="105" name="CourseTitle"/>
          <p:cNvSpPr txBox="1"/>
          <p:nvPr/>
        </p:nvSpPr>
        <p:spPr>
          <a:xfrm>
            <a:off x="1200000" y="2750000"/>
            <a:ext cx="98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300" b="1" dirty="0">
                <a:latin typeface="Times New Roman" panose="02020603050405020304"/>
              </a:rPr>
              <a:t>AI23431 - WEBTECHNOLOGY AND MOBILE APPLICATION PROJECT REVIEW</a:t>
            </a:r>
            <a:endParaRPr lang="en-IN" sz="2300" b="1" dirty="0">
              <a:latin typeface="Times New Roman" panose="02020603050405020304"/>
            </a:endParaRPr>
          </a:p>
          <a:p>
            <a:pPr algn="ctr"/>
            <a:r>
              <a:rPr lang="en-IN" sz="2300" b="1" dirty="0">
                <a:latin typeface="Times New Roman" panose="02020603050405020304"/>
              </a:rPr>
              <a:t>POSTPARTUM ANEMIA RISK SCORING SYSTEM</a:t>
            </a:r>
            <a:endParaRPr lang="en-IN" sz="2300" b="1" dirty="0">
              <a:latin typeface="Times New Roman" panose="02020603050405020304"/>
            </a:endParaRPr>
          </a:p>
        </p:txBody>
      </p:sp>
      <p:sp>
        <p:nvSpPr>
          <p:cNvPr id="106" name="PresenterInfo"/>
          <p:cNvSpPr txBox="1"/>
          <p:nvPr/>
        </p:nvSpPr>
        <p:spPr>
          <a:xfrm>
            <a:off x="1200150" y="3999865"/>
            <a:ext cx="9799955" cy="19443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IN" sz="3000" b="1" dirty="0">
                <a:latin typeface="Times New Roman" panose="02020603050405020304"/>
              </a:rPr>
              <a:t>Presented by :</a:t>
            </a:r>
            <a:endParaRPr lang="en-IN" sz="3000" b="1" dirty="0">
              <a:latin typeface="Times New Roman" panose="02020603050405020304"/>
            </a:endParaRPr>
          </a:p>
          <a:p>
            <a:pPr algn="ctr">
              <a:lnSpc>
                <a:spcPct val="150000"/>
              </a:lnSpc>
            </a:pPr>
            <a:r>
              <a:rPr lang="en-US" altLang="en-IN" sz="2400" dirty="0">
                <a:latin typeface="Times New Roman" panose="02020603050405020304"/>
              </a:rPr>
              <a:t>SANTHIYA K  241501184</a:t>
            </a:r>
            <a:endParaRPr lang="en-US" altLang="en-IN" sz="2400" dirty="0">
              <a:latin typeface="Times New Roman" panose="02020603050405020304"/>
            </a:endParaRPr>
          </a:p>
          <a:p>
            <a:pPr algn="ctr">
              <a:lnSpc>
                <a:spcPct val="150000"/>
              </a:lnSpc>
            </a:pPr>
            <a:r>
              <a:rPr lang="en-US" altLang="en-IN" sz="2400" dirty="0">
                <a:latin typeface="Times New Roman" panose="02020603050405020304"/>
              </a:rPr>
              <a:t>MELDONA L  241501108</a:t>
            </a:r>
            <a:endParaRPr lang="en-US" altLang="en-IN" sz="2400" dirty="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gPurp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BgCream"/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BgWhiteRound"/>
          <p:cNvSpPr/>
          <p:nvPr/>
        </p:nvSpPr>
        <p:spPr>
          <a:xfrm>
            <a:off x="408038" y="396312"/>
            <a:ext cx="11425084" cy="601734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030A0"/>
            </a:solidFill>
          </a:ln>
        </p:spPr>
        <p:txBody>
          <a:bodyPr/>
          <a:lstStyle/>
          <a:p/>
        </p:txBody>
      </p:sp>
      <p:sp>
        <p:nvSpPr>
          <p:cNvPr id="104" name="SlideTitle"/>
          <p:cNvSpPr txBox="1"/>
          <p:nvPr/>
        </p:nvSpPr>
        <p:spPr>
          <a:xfrm>
            <a:off x="700000" y="450000"/>
            <a:ext cx="107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Times New Roman" panose="02020603050405020304"/>
              </a:rPr>
              <a:t>Introduction</a:t>
            </a:r>
            <a:endParaRPr lang="en-US" sz="3600" b="1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05" name="ContentBox"/>
          <p:cNvSpPr txBox="1"/>
          <p:nvPr/>
        </p:nvSpPr>
        <p:spPr>
          <a:xfrm>
            <a:off x="699770" y="1524000"/>
            <a:ext cx="10699750" cy="45961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cs typeface="+mn-lt"/>
              </a:rPr>
              <a:t>Postpartum Anemia Detection System</a:t>
            </a:r>
            <a:endParaRPr lang="en-US" altLang="en-US" sz="2400" dirty="0">
              <a:cs typeface="+mn-lt"/>
            </a:endParaRPr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v"/>
            </a:pPr>
            <a:endParaRPr lang="en-US" altLang="en-US" sz="2400" dirty="0">
              <a:cs typeface="+mn-lt"/>
            </a:endParaRPr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cs typeface="+mn-lt"/>
              </a:rPr>
              <a:t>Postpartum anemia is a common yet under-diagnosed condition among women in rural India, affecting over 52% and increasing the risk of serious health complications.</a:t>
            </a:r>
            <a:endParaRPr lang="en-US" altLang="en-US" sz="2400" dirty="0">
              <a:cs typeface="+mn-lt"/>
            </a:endParaRPr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v"/>
            </a:pPr>
            <a:endParaRPr lang="en-US" altLang="en-US" sz="2400" dirty="0">
              <a:cs typeface="+mn-lt"/>
            </a:endParaRPr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cs typeface="+mn-lt"/>
              </a:rPr>
              <a:t>ASHA workers play a vital role in maternal care but lack tools for early detection.</a:t>
            </a:r>
            <a:endParaRPr lang="en-US" altLang="en-US" sz="2400" dirty="0">
              <a:cs typeface="+mn-lt"/>
            </a:endParaRPr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v"/>
            </a:pPr>
            <a:endParaRPr lang="en-US" altLang="en-US" sz="2400" dirty="0">
              <a:cs typeface="+mn-lt"/>
            </a:endParaRPr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cs typeface="+mn-lt"/>
              </a:rPr>
              <a:t>This project introduces a simple mobile app that enables quick anemia risk assessment using symptoms, without the need for lab tests, through an easy 4-step process.</a:t>
            </a:r>
            <a:endParaRPr lang="en-US" altLang="en-US" sz="2400" dirty="0">
              <a:cs typeface="+mn-lt"/>
            </a:endParaRPr>
          </a:p>
        </p:txBody>
      </p:sp>
      <p:pic>
        <p:nvPicPr>
          <p:cNvPr id="110" name="BottomStrip"/>
          <p:cNvPicPr/>
          <p:nvPr/>
        </p:nvPicPr>
        <p:blipFill>
          <a:blip r:embed="rId1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111" name="RECLogo"/>
          <p:cNvPicPr/>
          <p:nvPr/>
        </p:nvPicPr>
        <p:blipFill>
          <a:blip r:embed="rId1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gPurp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BgCream"/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BgWhiteRound"/>
          <p:cNvSpPr/>
          <p:nvPr/>
        </p:nvSpPr>
        <p:spPr>
          <a:xfrm>
            <a:off x="408038" y="396312"/>
            <a:ext cx="11425084" cy="601734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030A0"/>
            </a:solidFill>
          </a:ln>
        </p:spPr>
        <p:txBody>
          <a:bodyPr/>
          <a:lstStyle/>
          <a:p/>
        </p:txBody>
      </p:sp>
      <p:sp>
        <p:nvSpPr>
          <p:cNvPr id="104" name="SlideTitle"/>
          <p:cNvSpPr txBox="1"/>
          <p:nvPr/>
        </p:nvSpPr>
        <p:spPr>
          <a:xfrm>
            <a:off x="700000" y="450000"/>
            <a:ext cx="107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Times New Roman" panose="02020603050405020304"/>
              </a:rPr>
              <a:t>Problem Statement</a:t>
            </a:r>
            <a:endParaRPr lang="en-US" sz="3600" b="1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05" name="ContentBox"/>
          <p:cNvSpPr txBox="1"/>
          <p:nvPr/>
        </p:nvSpPr>
        <p:spPr>
          <a:xfrm>
            <a:off x="700000" y="1220000"/>
            <a:ext cx="10700000" cy="49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r>
              <a:rPr lang="en-US" sz="2000" b="1" u="sng" dirty="0">
                <a:solidFill>
                  <a:srgbClr val="7030A0"/>
                </a:solidFill>
                <a:latin typeface="Calibri"/>
              </a:rPr>
              <a:t>Diagnostic Gap:</a:t>
            </a:r>
            <a:endParaRPr lang="en-US" sz="2000" b="1" u="sng" dirty="0">
              <a:solidFill>
                <a:srgbClr val="7030A0"/>
              </a:solidFill>
              <a:latin typeface="Calibri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900" dirty="0">
                <a:latin typeface="+mn-ea"/>
                <a:cs typeface="+mn-ea"/>
              </a:rPr>
              <a:t>ASHA workers lack clinical training and diagnostic tools (CBC analyzers) at the village level.</a:t>
            </a:r>
            <a:endParaRPr lang="en-US" sz="1900" dirty="0">
              <a:latin typeface="+mn-ea"/>
              <a:cs typeface="+mn-ea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900" dirty="0">
                <a:latin typeface="+mn-ea"/>
                <a:cs typeface="+mn-ea"/>
              </a:rPr>
              <a:t>Anemia symptoms like pale eyelids are often dismissed as normal post-delivery weakness.</a:t>
            </a:r>
            <a:endParaRPr lang="en-US" sz="1900" dirty="0">
              <a:latin typeface="+mn-ea"/>
              <a:cs typeface="+mn-ea"/>
            </a:endParaRPr>
          </a:p>
          <a:p>
            <a:endParaRPr lang="en-US" sz="1000">
              <a:latin typeface="+mn-ea"/>
              <a:cs typeface="+mn-ea"/>
            </a:endParaRPr>
          </a:p>
          <a:p>
            <a:endParaRPr lang="en-US" sz="2000" b="1" u="sng" dirty="0">
              <a:solidFill>
                <a:srgbClr val="7030A0"/>
              </a:solidFill>
              <a:latin typeface="+mn-ea"/>
              <a:cs typeface="+mn-ea"/>
            </a:endParaRPr>
          </a:p>
          <a:p>
            <a:r>
              <a:rPr lang="en-US" sz="2000" b="1" u="sng" dirty="0">
                <a:solidFill>
                  <a:srgbClr val="7030A0"/>
                </a:solidFill>
                <a:latin typeface="Calibri"/>
              </a:rPr>
              <a:t>Communication Breakdown:</a:t>
            </a:r>
            <a:endParaRPr lang="en-US" sz="2000" b="1" u="sng" dirty="0">
              <a:solidFill>
                <a:srgbClr val="7030A0"/>
              </a:solidFill>
              <a:latin typeface="Calibri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900" dirty="0">
                <a:latin typeface="Calibri"/>
              </a:rPr>
              <a:t>No structured real-time channel exists for ASHA workers to alert PHC doctors.</a:t>
            </a:r>
            <a:endParaRPr lang="en-US" sz="1900" dirty="0">
              <a:latin typeface="Calibri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900" dirty="0">
                <a:latin typeface="Calibri"/>
              </a:rPr>
              <a:t>Verbal or paper-based referrals are frequently delayed or lost in transit.</a:t>
            </a:r>
            <a:endParaRPr lang="en-US" sz="1900" dirty="0">
              <a:latin typeface="Calibri"/>
            </a:endParaRPr>
          </a:p>
          <a:p>
            <a:endParaRPr lang="en-US" sz="1000"/>
          </a:p>
          <a:p>
            <a:endParaRPr lang="en-US" sz="2000" b="1" u="sng" dirty="0">
              <a:solidFill>
                <a:srgbClr val="7030A0"/>
              </a:solidFill>
              <a:latin typeface="Calibri"/>
            </a:endParaRPr>
          </a:p>
          <a:p>
            <a:r>
              <a:rPr lang="en-US" sz="2000" b="1" u="sng" dirty="0">
                <a:solidFill>
                  <a:srgbClr val="7030A0"/>
                </a:solidFill>
                <a:latin typeface="Calibri"/>
              </a:rPr>
              <a:t>No Offline Digital Tool:</a:t>
            </a:r>
            <a:endParaRPr lang="en-US" sz="2000" b="1" u="sng" dirty="0">
              <a:solidFill>
                <a:srgbClr val="7030A0"/>
              </a:solidFill>
              <a:latin typeface="Calibri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900" dirty="0">
                <a:latin typeface="Calibri"/>
              </a:rPr>
              <a:t>Existing health apps require internet, excluding remote villages with poor connectivity.</a:t>
            </a:r>
            <a:endParaRPr lang="en-US" sz="1900" dirty="0">
              <a:latin typeface="Calibri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900" dirty="0">
                <a:latin typeface="Calibri"/>
              </a:rPr>
              <a:t>No symptom-first triage tool exists for postpartum care in Tamil Nadu.</a:t>
            </a:r>
            <a:endParaRPr lang="en-US" sz="1900" dirty="0">
              <a:latin typeface="Calibri"/>
            </a:endParaRPr>
          </a:p>
        </p:txBody>
      </p:sp>
      <p:pic>
        <p:nvPicPr>
          <p:cNvPr id="110" name="BottomStrip"/>
          <p:cNvPicPr/>
          <p:nvPr/>
        </p:nvPicPr>
        <p:blipFill>
          <a:blip r:embed="rId1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111" name="RECLogo"/>
          <p:cNvPicPr/>
          <p:nvPr/>
        </p:nvPicPr>
        <p:blipFill>
          <a:blip r:embed="rId1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gPurp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BgCream"/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BgWhiteRound"/>
          <p:cNvSpPr/>
          <p:nvPr/>
        </p:nvSpPr>
        <p:spPr>
          <a:xfrm>
            <a:off x="408038" y="396312"/>
            <a:ext cx="11425084" cy="601734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030A0"/>
            </a:solidFill>
          </a:ln>
        </p:spPr>
        <p:txBody>
          <a:bodyPr/>
          <a:lstStyle/>
          <a:p/>
        </p:txBody>
      </p:sp>
      <p:sp>
        <p:nvSpPr>
          <p:cNvPr id="104" name="SlideTitle"/>
          <p:cNvSpPr txBox="1"/>
          <p:nvPr/>
        </p:nvSpPr>
        <p:spPr>
          <a:xfrm>
            <a:off x="408535" y="380785"/>
            <a:ext cx="10700000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Times New Roman" panose="02020603050405020304"/>
              </a:rPr>
              <a:t> Objectives</a:t>
            </a:r>
            <a:endParaRPr lang="en-US" sz="3600" b="1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05" name="ContentBox"/>
          <p:cNvSpPr txBox="1"/>
          <p:nvPr/>
        </p:nvSpPr>
        <p:spPr>
          <a:xfrm>
            <a:off x="699770" y="1219835"/>
            <a:ext cx="10699750" cy="46926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 lnSpcReduction="10000"/>
          </a:bodyPr>
          <a:lstStyle/>
          <a:p>
            <a:r>
              <a:rPr lang="en-US" altLang="en-US" sz="2800" b="1" dirty="0">
                <a:latin typeface="Calibri"/>
              </a:rPr>
              <a:t>Primary objectives:</a:t>
            </a:r>
            <a:endParaRPr lang="en-US" altLang="en-US" sz="2800" b="1" dirty="0">
              <a:latin typeface="Calibri"/>
            </a:endParaRPr>
          </a:p>
          <a:p>
            <a:pPr marL="457200" indent="-457200">
              <a:buFont typeface="+mj-lt"/>
              <a:buAutoNum type="arabicPeriod"/>
            </a:pPr>
            <a:endParaRPr lang="en-US" altLang="en-US" sz="1900" dirty="0">
              <a:latin typeface="Calibri"/>
            </a:endParaRPr>
          </a:p>
          <a:p>
            <a:pPr marL="457200" indent="-457200">
              <a:lnSpc>
                <a:spcPct val="110000"/>
              </a:lnSpc>
              <a:buFont typeface="Wingdings" panose="05000000000000000000" charset="0"/>
              <a:buChar char=""/>
            </a:pPr>
            <a:r>
              <a:rPr lang="en-US" altLang="en-US" sz="2000" dirty="0">
                <a:latin typeface="Calibri"/>
              </a:rPr>
              <a:t>Symptom-based anemia detection (no lab)</a:t>
            </a:r>
            <a:endParaRPr lang="en-US" altLang="en-US" sz="2000" dirty="0">
              <a:latin typeface="Calibri"/>
            </a:endParaRPr>
          </a:p>
          <a:p>
            <a:pPr marL="457200" indent="-457200">
              <a:lnSpc>
                <a:spcPct val="110000"/>
              </a:lnSpc>
              <a:buFont typeface="Wingdings" panose="05000000000000000000" charset="0"/>
              <a:buChar char=""/>
            </a:pPr>
            <a:r>
              <a:rPr lang="en-US" altLang="en-US" sz="2000" dirty="0">
                <a:latin typeface="Calibri"/>
              </a:rPr>
              <a:t>3-min risk classification (Green / Amber / Red)</a:t>
            </a:r>
            <a:endParaRPr lang="en-US" altLang="en-US" sz="2000" dirty="0">
              <a:latin typeface="Calibri"/>
            </a:endParaRPr>
          </a:p>
          <a:p>
            <a:pPr marL="457200" indent="-457200">
              <a:lnSpc>
                <a:spcPct val="110000"/>
              </a:lnSpc>
              <a:buFont typeface="Wingdings" panose="05000000000000000000" charset="0"/>
              <a:buChar char=""/>
            </a:pPr>
            <a:r>
              <a:rPr lang="en-US" altLang="en-US" sz="2000" dirty="0">
                <a:latin typeface="Calibri"/>
              </a:rPr>
              <a:t>Auto alerts to PHC for high-risk cases</a:t>
            </a:r>
            <a:endParaRPr lang="en-US" altLang="en-US" sz="2000" dirty="0">
              <a:latin typeface="Calibri"/>
            </a:endParaRPr>
          </a:p>
          <a:p>
            <a:pPr marL="457200" indent="-457200">
              <a:lnSpc>
                <a:spcPct val="110000"/>
              </a:lnSpc>
              <a:buFont typeface="Wingdings" panose="05000000000000000000" charset="0"/>
              <a:buChar char=""/>
            </a:pPr>
            <a:r>
              <a:rPr lang="en-US" altLang="en-US" sz="2000" dirty="0">
                <a:latin typeface="Calibri"/>
              </a:rPr>
              <a:t>Real-time monitoring dashboard</a:t>
            </a:r>
            <a:endParaRPr lang="en-US" altLang="en-US" sz="2000" dirty="0">
              <a:latin typeface="Calibri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charset="0"/>
              <a:buChar char=""/>
            </a:pPr>
            <a:endParaRPr lang="en-US" altLang="en-US" sz="1900" dirty="0">
              <a:latin typeface="Calibri"/>
            </a:endParaRPr>
          </a:p>
          <a:p>
            <a:r>
              <a:rPr lang="en-US" altLang="en-US" sz="2800" b="1" dirty="0">
                <a:latin typeface="Calibri"/>
              </a:rPr>
              <a:t>Secondary objectives:</a:t>
            </a:r>
            <a:endParaRPr lang="en-US" altLang="en-US" sz="2800" b="1" dirty="0">
              <a:latin typeface="Calibri"/>
            </a:endParaRPr>
          </a:p>
          <a:p>
            <a:endParaRPr lang="en-US" altLang="en-US" sz="1900" dirty="0">
              <a:latin typeface="Calibri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"/>
            </a:pPr>
            <a:r>
              <a:rPr lang="en-US" altLang="en-US" sz="2000" dirty="0">
                <a:latin typeface="Calibri"/>
              </a:rPr>
              <a:t>Works offline on low-end devices</a:t>
            </a:r>
            <a:endParaRPr lang="en-US" altLang="en-US" sz="2000" dirty="0">
              <a:latin typeface="Calibri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"/>
            </a:pPr>
            <a:r>
              <a:rPr lang="en-US" altLang="en-US" sz="2000" dirty="0">
                <a:latin typeface="Calibri"/>
              </a:rPr>
              <a:t>PICME-based patient tracking</a:t>
            </a:r>
            <a:endParaRPr lang="en-US" altLang="en-US" sz="2000" dirty="0">
              <a:latin typeface="Calibri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"/>
            </a:pPr>
            <a:r>
              <a:rPr lang="en-US" altLang="en-US" sz="2000" dirty="0">
                <a:latin typeface="Calibri"/>
              </a:rPr>
              <a:t>AI nutrition suggestions</a:t>
            </a:r>
            <a:endParaRPr lang="en-US" altLang="en-US" sz="2000" dirty="0">
              <a:latin typeface="Calibri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"/>
            </a:pPr>
            <a:r>
              <a:rPr lang="en-US" altLang="en-US" sz="2000" dirty="0">
                <a:latin typeface="Calibri"/>
              </a:rPr>
              <a:t>Low-cost, simple system</a:t>
            </a:r>
            <a:r>
              <a:rPr lang="en-US" sz="2000" dirty="0">
                <a:latin typeface="Calibri"/>
              </a:rPr>
              <a:t>.</a:t>
            </a:r>
            <a:endParaRPr lang="en-US" sz="2000" dirty="0">
              <a:latin typeface="Calibri"/>
            </a:endParaRPr>
          </a:p>
        </p:txBody>
      </p:sp>
      <p:pic>
        <p:nvPicPr>
          <p:cNvPr id="110" name="BottomStrip"/>
          <p:cNvPicPr/>
          <p:nvPr/>
        </p:nvPicPr>
        <p:blipFill>
          <a:blip r:embed="rId1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111" name="RECLogo"/>
          <p:cNvPicPr/>
          <p:nvPr/>
        </p:nvPicPr>
        <p:blipFill>
          <a:blip r:embed="rId1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gPurp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BgCream"/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BgWhiteRound"/>
          <p:cNvSpPr/>
          <p:nvPr/>
        </p:nvSpPr>
        <p:spPr>
          <a:xfrm>
            <a:off x="408038" y="396312"/>
            <a:ext cx="11425084" cy="601734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030A0"/>
            </a:solidFill>
          </a:ln>
        </p:spPr>
        <p:txBody>
          <a:bodyPr/>
          <a:lstStyle/>
          <a:p/>
        </p:txBody>
      </p:sp>
      <p:sp>
        <p:nvSpPr>
          <p:cNvPr id="104" name="SlideTitle"/>
          <p:cNvSpPr txBox="1"/>
          <p:nvPr/>
        </p:nvSpPr>
        <p:spPr>
          <a:xfrm>
            <a:off x="700000" y="450000"/>
            <a:ext cx="107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Times New Roman" panose="02020603050405020304"/>
              </a:rPr>
              <a:t>Key System Characteristics</a:t>
            </a:r>
            <a:endParaRPr lang="en-US" sz="3600" b="1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05" name="ContentBox"/>
          <p:cNvSpPr txBox="1"/>
          <p:nvPr/>
        </p:nvSpPr>
        <p:spPr>
          <a:xfrm>
            <a:off x="700000" y="1220000"/>
            <a:ext cx="10700000" cy="49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marL="342900" indent="-342900">
              <a:lnSpc>
                <a:spcPct val="14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Calibri"/>
              </a:rPr>
              <a:t>Offline-First: Works without internet</a:t>
            </a:r>
            <a:endParaRPr lang="en-US" altLang="en-US" sz="2400" dirty="0">
              <a:latin typeface="Calibri"/>
            </a:endParaRPr>
          </a:p>
          <a:p>
            <a:pPr marL="342900" indent="-342900">
              <a:lnSpc>
                <a:spcPct val="14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Calibri"/>
              </a:rPr>
              <a:t>Fast Risk Scoring: Simple, rule-based classification</a:t>
            </a:r>
            <a:endParaRPr lang="en-US" altLang="en-US" sz="2400" dirty="0">
              <a:latin typeface="Calibri"/>
            </a:endParaRPr>
          </a:p>
          <a:p>
            <a:pPr marL="342900" indent="-342900">
              <a:lnSpc>
                <a:spcPct val="14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Calibri"/>
              </a:rPr>
              <a:t>Emergency Detection: Auto Red for critical symptoms</a:t>
            </a:r>
            <a:endParaRPr lang="en-US" altLang="en-US" sz="2400" dirty="0">
              <a:latin typeface="Calibri"/>
            </a:endParaRPr>
          </a:p>
          <a:p>
            <a:pPr marL="342900" indent="-342900">
              <a:lnSpc>
                <a:spcPct val="14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Calibri"/>
              </a:rPr>
              <a:t>Easy UI: Yes/No icons for quick use</a:t>
            </a:r>
            <a:endParaRPr lang="en-US" altLang="en-US" sz="2400" dirty="0">
              <a:latin typeface="Calibri"/>
            </a:endParaRPr>
          </a:p>
          <a:p>
            <a:pPr marL="342900" indent="-342900">
              <a:lnSpc>
                <a:spcPct val="14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Calibri"/>
              </a:rPr>
              <a:t>Live Dashboard: Real-time PHC updates</a:t>
            </a:r>
            <a:endParaRPr lang="en-US" altLang="en-US" sz="2400" dirty="0">
              <a:latin typeface="Calibri"/>
            </a:endParaRPr>
          </a:p>
          <a:p>
            <a:pPr marL="342900" indent="-342900">
              <a:lnSpc>
                <a:spcPct val="14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Calibri"/>
              </a:rPr>
              <a:t>Alert Confirmation: Doctor acknowledgment system</a:t>
            </a:r>
            <a:endParaRPr lang="en-US" altLang="en-US" sz="2400" dirty="0">
              <a:latin typeface="Calibri"/>
            </a:endParaRPr>
          </a:p>
          <a:p>
            <a:pPr marL="342900" indent="-342900">
              <a:lnSpc>
                <a:spcPct val="14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Calibri"/>
              </a:rPr>
              <a:t>PICME Integration: Government record linkage</a:t>
            </a:r>
            <a:endParaRPr lang="en-US" altLang="en-US" sz="2400" dirty="0">
              <a:latin typeface="Calibri"/>
            </a:endParaRPr>
          </a:p>
          <a:p>
            <a:pPr marL="342900" indent="-342900">
              <a:lnSpc>
                <a:spcPct val="14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Calibri"/>
              </a:rPr>
              <a:t>AI Nutrition Tips: Local diet suggestions</a:t>
            </a:r>
            <a:endParaRPr lang="en-US" altLang="en-US" sz="2400" dirty="0">
              <a:latin typeface="Calibri"/>
            </a:endParaRPr>
          </a:p>
        </p:txBody>
      </p:sp>
      <p:pic>
        <p:nvPicPr>
          <p:cNvPr id="110" name="BottomStrip"/>
          <p:cNvPicPr/>
          <p:nvPr/>
        </p:nvPicPr>
        <p:blipFill>
          <a:blip r:embed="rId1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111" name="RECLogo"/>
          <p:cNvPicPr/>
          <p:nvPr/>
        </p:nvPicPr>
        <p:blipFill>
          <a:blip r:embed="rId1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gPurp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BgCream"/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BgWhiteRound"/>
          <p:cNvSpPr/>
          <p:nvPr/>
        </p:nvSpPr>
        <p:spPr>
          <a:xfrm>
            <a:off x="408038" y="396312"/>
            <a:ext cx="11425084" cy="601734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030A0"/>
            </a:solidFill>
          </a:ln>
        </p:spPr>
        <p:txBody>
          <a:bodyPr/>
          <a:lstStyle/>
          <a:p/>
        </p:txBody>
      </p:sp>
      <p:sp>
        <p:nvSpPr>
          <p:cNvPr id="104" name="SlideTitle"/>
          <p:cNvSpPr txBox="1"/>
          <p:nvPr/>
        </p:nvSpPr>
        <p:spPr>
          <a:xfrm>
            <a:off x="700000" y="450000"/>
            <a:ext cx="107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Times New Roman" panose="02020603050405020304"/>
              </a:rPr>
              <a:t>Hardware &amp; Software Requirements</a:t>
            </a:r>
            <a:endParaRPr lang="en-US" sz="3600" b="1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05" name="ContentBox"/>
          <p:cNvSpPr txBox="1"/>
          <p:nvPr/>
        </p:nvSpPr>
        <p:spPr>
          <a:xfrm>
            <a:off x="700635" y="1150150"/>
            <a:ext cx="10700000" cy="49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Calibri"/>
              </a:rPr>
              <a:t>Hardware Requirements:</a:t>
            </a:r>
            <a:endParaRPr lang="en-US" sz="2000" b="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charset="0"/>
              <a:buChar char=""/>
            </a:pPr>
            <a:r>
              <a:rPr lang="en-US" altLang="en-US" sz="2400"/>
              <a:t>ASHA Device: Android (2GB RAM, offline support)</a:t>
            </a:r>
            <a:endParaRPr lang="en-US" altLang="en-US" sz="2400"/>
          </a:p>
          <a:p>
            <a:pPr marL="342900" indent="-342900">
              <a:lnSpc>
                <a:spcPct val="110000"/>
              </a:lnSpc>
              <a:buFont typeface="Wingdings" panose="05000000000000000000" charset="0"/>
              <a:buChar char=""/>
            </a:pPr>
            <a:r>
              <a:rPr lang="en-US" altLang="en-US" sz="2400"/>
              <a:t>PHC System: Desktop/Laptop (4GB RAM, internet)</a:t>
            </a:r>
            <a:endParaRPr lang="en-US" altLang="en-US" sz="2400"/>
          </a:p>
          <a:p>
            <a:pPr marL="342900" indent="-342900">
              <a:lnSpc>
                <a:spcPct val="110000"/>
              </a:lnSpc>
              <a:buFont typeface="Wingdings" panose="05000000000000000000" charset="0"/>
              <a:buChar char=""/>
            </a:pPr>
            <a:r>
              <a:rPr lang="en-US" altLang="en-US" sz="2400"/>
              <a:t>Development: 8GB RAM system</a:t>
            </a:r>
            <a:endParaRPr lang="en-US" altLang="en-US" sz="2400"/>
          </a:p>
          <a:p>
            <a:pPr>
              <a:lnSpc>
                <a:spcPct val="110000"/>
              </a:lnSpc>
            </a:pPr>
            <a:endParaRPr lang="en-US" sz="2400" b="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000000"/>
                </a:solidFill>
                <a:latin typeface="Calibri"/>
              </a:rPr>
              <a:t>Software Requirements:</a:t>
            </a:r>
            <a:endParaRPr lang="en-US" sz="2400" b="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Calibri"/>
              </a:rPr>
              <a:t>Frontend: React + Tailwind</a:t>
            </a:r>
            <a:endParaRPr lang="en-US" altLang="en-US" sz="2400" dirty="0">
              <a:latin typeface="Calibri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Calibri"/>
              </a:rPr>
              <a:t>Backend: Supabase (PostgreSQL)</a:t>
            </a:r>
            <a:endParaRPr lang="en-US" altLang="en-US" sz="2400" dirty="0">
              <a:latin typeface="Calibri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Calibri"/>
              </a:rPr>
              <a:t>Communication: WhatsApp API</a:t>
            </a:r>
            <a:endParaRPr lang="en-US" altLang="en-US" sz="2400" dirty="0">
              <a:latin typeface="Calibri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Calibri"/>
              </a:rPr>
              <a:t>Tools: Vite, Gemini API (optiona</a:t>
            </a:r>
            <a:r>
              <a:rPr lang="en-US" altLang="en-US" sz="1900" dirty="0">
                <a:latin typeface="Calibri"/>
              </a:rPr>
              <a:t>l)</a:t>
            </a:r>
            <a:endParaRPr lang="en-US" altLang="en-US" sz="1900" dirty="0">
              <a:latin typeface="Calibri"/>
            </a:endParaRPr>
          </a:p>
        </p:txBody>
      </p:sp>
      <p:pic>
        <p:nvPicPr>
          <p:cNvPr id="110" name="BottomStrip"/>
          <p:cNvPicPr/>
          <p:nvPr/>
        </p:nvPicPr>
        <p:blipFill>
          <a:blip r:embed="rId1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111" name="RECLogo"/>
          <p:cNvPicPr/>
          <p:nvPr/>
        </p:nvPicPr>
        <p:blipFill>
          <a:blip r:embed="rId1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gPurp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BgCream"/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BgWhiteRound"/>
          <p:cNvSpPr/>
          <p:nvPr/>
        </p:nvSpPr>
        <p:spPr>
          <a:xfrm>
            <a:off x="408038" y="396312"/>
            <a:ext cx="11425084" cy="601734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030A0"/>
            </a:solidFill>
          </a:ln>
        </p:spPr>
        <p:txBody>
          <a:bodyPr/>
          <a:lstStyle/>
          <a:p/>
        </p:txBody>
      </p:sp>
      <p:sp>
        <p:nvSpPr>
          <p:cNvPr id="104" name="SlideTitle"/>
          <p:cNvSpPr txBox="1"/>
          <p:nvPr/>
        </p:nvSpPr>
        <p:spPr>
          <a:xfrm>
            <a:off x="700000" y="450000"/>
            <a:ext cx="107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Times New Roman" panose="02020603050405020304"/>
              </a:rPr>
              <a:t>System Modules</a:t>
            </a:r>
            <a:endParaRPr lang="en-US" sz="3600" b="1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05" name="ContentBox"/>
          <p:cNvSpPr txBox="1"/>
          <p:nvPr/>
        </p:nvSpPr>
        <p:spPr>
          <a:xfrm>
            <a:off x="700000" y="1220000"/>
            <a:ext cx="10700000" cy="49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Calibri"/>
              </a:rPr>
              <a:t>Modules of the System:</a:t>
            </a:r>
            <a:endParaRPr lang="en-US" sz="2400" b="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Calibri"/>
              </a:rPr>
              <a:t>Screen 1: Patient intake details</a:t>
            </a:r>
            <a:endParaRPr lang="en-US" altLang="en-US" sz="2400" dirty="0">
              <a:latin typeface="Calibri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Calibri"/>
              </a:rPr>
              <a:t>Screen 2: Symptom assessment (Yes/No)</a:t>
            </a:r>
            <a:endParaRPr lang="en-US" altLang="en-US" sz="2400" dirty="0">
              <a:latin typeface="Calibri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Calibri"/>
              </a:rPr>
              <a:t>Screen 3: Risk result + alert trigger</a:t>
            </a:r>
            <a:endParaRPr lang="en-US" altLang="en-US" sz="2400" dirty="0">
              <a:latin typeface="Calibri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Calibri"/>
              </a:rPr>
              <a:t>Screen 4: Reminders + nutrition tips</a:t>
            </a:r>
            <a:endParaRPr lang="en-US" altLang="en-US" sz="2400" dirty="0">
              <a:latin typeface="Calibri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Calibri"/>
              </a:rPr>
              <a:t>Dashboard: PHC real-time alerts &amp; acknowledgment</a:t>
            </a:r>
            <a:endParaRPr lang="en-US" altLang="en-US" sz="2400" dirty="0">
              <a:latin typeface="Calibri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Calibri"/>
              </a:rPr>
              <a:t>Risk Engine: Symptom-based scoring logic</a:t>
            </a:r>
            <a:endParaRPr lang="en-US" altLang="en-US" sz="2400" dirty="0">
              <a:latin typeface="Calibri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Calibri"/>
              </a:rPr>
              <a:t>Database: Patient data storage (Supabase)</a:t>
            </a:r>
            <a:endParaRPr lang="en-US" altLang="en-US" sz="2400" dirty="0">
              <a:latin typeface="Calibri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Calibri"/>
              </a:rPr>
              <a:t>Nutrition Data: Offline food recommendations</a:t>
            </a:r>
            <a:endParaRPr lang="en-US" altLang="en-US" sz="2400" dirty="0">
              <a:latin typeface="Calibri"/>
            </a:endParaRPr>
          </a:p>
        </p:txBody>
      </p:sp>
      <p:pic>
        <p:nvPicPr>
          <p:cNvPr id="110" name="BottomStrip"/>
          <p:cNvPicPr/>
          <p:nvPr/>
        </p:nvPicPr>
        <p:blipFill>
          <a:blip r:embed="rId1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111" name="RECLogo"/>
          <p:cNvPicPr/>
          <p:nvPr/>
        </p:nvPicPr>
        <p:blipFill>
          <a:blip r:embed="rId1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gPurp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BgCream"/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BgWhiteRound"/>
          <p:cNvSpPr/>
          <p:nvPr/>
        </p:nvSpPr>
        <p:spPr>
          <a:xfrm>
            <a:off x="408038" y="396312"/>
            <a:ext cx="11425084" cy="601734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030A0"/>
            </a:solidFill>
          </a:ln>
        </p:spPr>
        <p:txBody>
          <a:bodyPr/>
          <a:lstStyle/>
          <a:p/>
        </p:txBody>
      </p:sp>
      <p:sp>
        <p:nvSpPr>
          <p:cNvPr id="104" name="SlideTitle"/>
          <p:cNvSpPr txBox="1"/>
          <p:nvPr/>
        </p:nvSpPr>
        <p:spPr>
          <a:xfrm>
            <a:off x="700000" y="450000"/>
            <a:ext cx="107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Times New Roman" panose="02020603050405020304"/>
              </a:rPr>
              <a:t>Key Features</a:t>
            </a:r>
            <a:endParaRPr lang="en-US" sz="3600" b="1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05" name="ContentBox"/>
          <p:cNvSpPr txBox="1"/>
          <p:nvPr/>
        </p:nvSpPr>
        <p:spPr>
          <a:xfrm>
            <a:off x="700000" y="1220000"/>
            <a:ext cx="10700000" cy="49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charset="0"/>
              <a:buChar char=""/>
            </a:pPr>
            <a:r>
              <a:rPr lang="en-US" altLang="en-US" sz="2400" dirty="0">
                <a:latin typeface="Calibri"/>
              </a:rPr>
              <a:t>System Features</a:t>
            </a:r>
            <a:endParaRPr lang="en-US" altLang="en-US" sz="2400" dirty="0">
              <a:latin typeface="Calibri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"/>
            </a:pPr>
            <a:r>
              <a:rPr lang="en-US" altLang="en-US" sz="2400" dirty="0">
                <a:latin typeface="Calibri"/>
              </a:rPr>
              <a:t>Offline Assessment: Works without internet</a:t>
            </a:r>
            <a:endParaRPr lang="en-US" altLang="en-US" sz="2400" dirty="0">
              <a:latin typeface="Calibri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"/>
            </a:pPr>
            <a:r>
              <a:rPr lang="en-US" altLang="en-US" sz="2400" dirty="0">
                <a:latin typeface="Calibri"/>
              </a:rPr>
              <a:t>Smart Risk Engine: Symptom-based with emergency override</a:t>
            </a:r>
            <a:endParaRPr lang="en-US" altLang="en-US" sz="2400" dirty="0">
              <a:latin typeface="Calibri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"/>
            </a:pPr>
            <a:r>
              <a:rPr lang="en-US" altLang="en-US" sz="2400" dirty="0">
                <a:latin typeface="Calibri"/>
              </a:rPr>
              <a:t>Instant Alerts: WhatsApp notification to PHC</a:t>
            </a:r>
            <a:endParaRPr lang="en-US" altLang="en-US" sz="2400" dirty="0">
              <a:latin typeface="Calibri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"/>
            </a:pPr>
            <a:r>
              <a:rPr lang="en-US" altLang="en-US" sz="2400" dirty="0">
                <a:latin typeface="Calibri"/>
              </a:rPr>
              <a:t>Live Dashboard: Real-time alerts &amp; acknowledgment</a:t>
            </a:r>
            <a:endParaRPr lang="en-US" altLang="en-US" sz="2400" dirty="0">
              <a:latin typeface="Calibri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"/>
            </a:pPr>
            <a:r>
              <a:rPr lang="en-US" altLang="en-US" sz="2400" dirty="0">
                <a:latin typeface="Calibri"/>
              </a:rPr>
              <a:t>AI Nutrition: Local diet suggestions (with offline support)</a:t>
            </a:r>
            <a:endParaRPr lang="en-US" altLang="en-US" sz="2400" dirty="0">
              <a:latin typeface="Calibri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"/>
            </a:pPr>
            <a:r>
              <a:rPr lang="en-US" altLang="en-US" sz="2400" dirty="0">
                <a:latin typeface="Calibri"/>
              </a:rPr>
              <a:t>PICME Integration: Government record tracking</a:t>
            </a:r>
            <a:endParaRPr lang="en-US" altLang="en-US" sz="2400" dirty="0">
              <a:latin typeface="Calibri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"/>
            </a:pPr>
            <a:r>
              <a:rPr lang="en-US" altLang="en-US" sz="2400" dirty="0">
                <a:latin typeface="Calibri"/>
              </a:rPr>
              <a:t>Guided Workflow: Simple 4-step process</a:t>
            </a:r>
            <a:endParaRPr lang="en-US" sz="2400" dirty="0">
              <a:latin typeface="Calibri"/>
            </a:endParaRPr>
          </a:p>
        </p:txBody>
      </p:sp>
      <p:pic>
        <p:nvPicPr>
          <p:cNvPr id="110" name="BottomStrip"/>
          <p:cNvPicPr/>
          <p:nvPr/>
        </p:nvPicPr>
        <p:blipFill>
          <a:blip r:embed="rId1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111" name="RECLogo"/>
          <p:cNvPicPr/>
          <p:nvPr/>
        </p:nvPicPr>
        <p:blipFill>
          <a:blip r:embed="rId1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gPurp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BgCream"/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BgWhiteRound"/>
          <p:cNvSpPr/>
          <p:nvPr/>
        </p:nvSpPr>
        <p:spPr>
          <a:xfrm>
            <a:off x="408038" y="396312"/>
            <a:ext cx="11425084" cy="601734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030A0"/>
            </a:solidFill>
          </a:ln>
        </p:spPr>
        <p:txBody>
          <a:bodyPr/>
          <a:lstStyle/>
          <a:p/>
        </p:txBody>
      </p:sp>
      <p:sp>
        <p:nvSpPr>
          <p:cNvPr id="104" name="SlideTitle"/>
          <p:cNvSpPr txBox="1"/>
          <p:nvPr/>
        </p:nvSpPr>
        <p:spPr>
          <a:xfrm>
            <a:off x="700000" y="450000"/>
            <a:ext cx="107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Times New Roman" panose="02020603050405020304"/>
              </a:rPr>
              <a:t>Advantages</a:t>
            </a:r>
            <a:endParaRPr lang="en-US" sz="3600" b="1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05" name="ContentBox"/>
          <p:cNvSpPr txBox="1"/>
          <p:nvPr/>
        </p:nvSpPr>
        <p:spPr>
          <a:xfrm>
            <a:off x="579985" y="1150150"/>
            <a:ext cx="10700000" cy="49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Calibri"/>
              </a:rPr>
              <a:t>Clinical Advantages:</a:t>
            </a:r>
            <a:endParaRPr lang="en-US" sz="2000" b="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buFont typeface="Wingdings" panose="05000000000000000000" charset="0"/>
              <a:buChar char=""/>
            </a:pPr>
            <a:r>
              <a:rPr lang="en-US" altLang="en-US" sz="2000" dirty="0">
                <a:solidFill>
                  <a:srgbClr val="000000"/>
                </a:solidFill>
                <a:latin typeface="Calibri"/>
              </a:rPr>
              <a:t> Enables ASHA workers to perform anemia screening</a:t>
            </a:r>
            <a:endParaRPr lang="en-US" altLang="en-US" sz="2000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buFont typeface="Wingdings" panose="05000000000000000000" charset="0"/>
              <a:buChar char=""/>
            </a:pPr>
            <a:r>
              <a:rPr lang="en-US" altLang="en-US" sz="2000" dirty="0">
                <a:solidFill>
                  <a:srgbClr val="000000"/>
                </a:solidFill>
                <a:latin typeface="Calibri"/>
              </a:rPr>
              <a:t> Red-risk cases caught using emergency override</a:t>
            </a:r>
            <a:endParaRPr lang="en-US" altLang="en-US" sz="2000" dirty="0">
              <a:solidFill>
                <a:srgbClr val="000000"/>
              </a:solidFill>
              <a:latin typeface="Calibri"/>
            </a:endParaRPr>
          </a:p>
          <a:p>
            <a:endParaRPr lang="en-US" sz="1000"/>
          </a:p>
          <a:p>
            <a:r>
              <a:rPr lang="en-US" sz="2000" b="1" dirty="0">
                <a:solidFill>
                  <a:srgbClr val="000000"/>
                </a:solidFill>
                <a:latin typeface="Calibri"/>
              </a:rPr>
              <a:t>Operational Advantages:</a:t>
            </a:r>
            <a:endParaRPr lang="en-US" sz="2000" b="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buFont typeface="Wingdings" panose="05000000000000000000" charset="0"/>
              <a:buChar char=""/>
            </a:pPr>
            <a:r>
              <a:rPr lang="en-US" altLang="en-US" sz="2000" dirty="0">
                <a:solidFill>
                  <a:srgbClr val="000000"/>
                </a:solidFill>
                <a:latin typeface="Calibri"/>
              </a:rPr>
              <a:t>Works offline in rural areas</a:t>
            </a:r>
            <a:endParaRPr lang="en-US" altLang="en-US" sz="2000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buFont typeface="Wingdings" panose="05000000000000000000" charset="0"/>
              <a:buChar char=""/>
            </a:pPr>
            <a:r>
              <a:rPr lang="en-US" altLang="en-US" sz="2000" dirty="0">
                <a:solidFill>
                  <a:srgbClr val="000000"/>
                </a:solidFill>
                <a:latin typeface="Calibri"/>
              </a:rPr>
              <a:t>Uses WhatsApp — no extra setup for PHC</a:t>
            </a:r>
            <a:endParaRPr lang="en-US" altLang="en-US" sz="2000" dirty="0">
              <a:solidFill>
                <a:srgbClr val="000000"/>
              </a:solidFill>
              <a:latin typeface="Calibri"/>
            </a:endParaRPr>
          </a:p>
          <a:p>
            <a:endParaRPr lang="en-US" sz="2000" dirty="0">
              <a:solidFill>
                <a:srgbClr val="000000"/>
              </a:solidFill>
              <a:latin typeface="Calibri"/>
            </a:endParaRPr>
          </a:p>
          <a:p>
            <a:r>
              <a:rPr lang="en-US" sz="2000" b="1" dirty="0">
                <a:solidFill>
                  <a:srgbClr val="000000"/>
                </a:solidFill>
                <a:latin typeface="Calibri"/>
              </a:rPr>
              <a:t>Technical Advantages:</a:t>
            </a:r>
            <a:endParaRPr lang="en-US" sz="2000" b="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900" dirty="0">
                <a:latin typeface="Calibri"/>
              </a:rPr>
              <a:t>Zero backend cost on Supabase free tier; graceful Gemini API degradation for uninterrupted use.</a:t>
            </a:r>
            <a:endParaRPr lang="en-US" sz="1900" dirty="0">
              <a:latin typeface="Calibri"/>
            </a:endParaRPr>
          </a:p>
          <a:p>
            <a:endParaRPr lang="en-US" sz="1000"/>
          </a:p>
          <a:p>
            <a:r>
              <a:rPr lang="en-US" sz="2000" b="1" dirty="0">
                <a:solidFill>
                  <a:srgbClr val="000000"/>
                </a:solidFill>
                <a:latin typeface="Calibri"/>
              </a:rPr>
              <a:t>Social Advantages:</a:t>
            </a:r>
            <a:endParaRPr lang="en-US" sz="2000" b="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900" dirty="0">
                <a:latin typeface="Calibri"/>
              </a:rPr>
              <a:t>Directly supports NHM maternal mortality reduction targets and empowers ASHA workers digitally.</a:t>
            </a:r>
            <a:endParaRPr lang="en-US" sz="1900" dirty="0">
              <a:latin typeface="Calibri"/>
            </a:endParaRPr>
          </a:p>
        </p:txBody>
      </p:sp>
      <p:pic>
        <p:nvPicPr>
          <p:cNvPr id="110" name="BottomStrip"/>
          <p:cNvPicPr/>
          <p:nvPr/>
        </p:nvPicPr>
        <p:blipFill>
          <a:blip r:embed="rId1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111" name="RECLogo"/>
          <p:cNvPicPr/>
          <p:nvPr/>
        </p:nvPicPr>
        <p:blipFill>
          <a:blip r:embed="rId1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gPurp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BgCream"/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BgWhiteRound"/>
          <p:cNvSpPr/>
          <p:nvPr/>
        </p:nvSpPr>
        <p:spPr>
          <a:xfrm>
            <a:off x="408038" y="396312"/>
            <a:ext cx="11425084" cy="601734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030A0"/>
            </a:solidFill>
          </a:ln>
        </p:spPr>
        <p:txBody>
          <a:bodyPr/>
          <a:lstStyle/>
          <a:p/>
        </p:txBody>
      </p:sp>
      <p:sp>
        <p:nvSpPr>
          <p:cNvPr id="104" name="SlideTitle"/>
          <p:cNvSpPr txBox="1"/>
          <p:nvPr/>
        </p:nvSpPr>
        <p:spPr>
          <a:xfrm>
            <a:off x="700000" y="450000"/>
            <a:ext cx="107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Times New Roman" panose="02020603050405020304"/>
              </a:rPr>
              <a:t>Results and Conclusion</a:t>
            </a:r>
            <a:endParaRPr lang="en-US" sz="3600" b="1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05" name="ContentBox"/>
          <p:cNvSpPr txBox="1"/>
          <p:nvPr/>
        </p:nvSpPr>
        <p:spPr>
          <a:xfrm>
            <a:off x="700000" y="1220000"/>
            <a:ext cx="10700000" cy="49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000000"/>
                </a:solidFill>
                <a:latin typeface="Calibri"/>
              </a:rPr>
              <a:t>    </a:t>
            </a:r>
            <a:endParaRPr lang="en-US" altLang="en-US" sz="2000" b="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charset="0"/>
              <a:buChar char=""/>
            </a:pPr>
            <a:r>
              <a:rPr lang="en-US" altLang="en-US" sz="2400" dirty="0">
                <a:solidFill>
                  <a:srgbClr val="000000"/>
                </a:solidFill>
                <a:cs typeface="+mn-lt"/>
              </a:rPr>
              <a:t>Fast and accurate anemia risk detection</a:t>
            </a:r>
            <a:endParaRPr lang="en-US" altLang="en-US" sz="2400" dirty="0">
              <a:solidFill>
                <a:srgbClr val="000000"/>
              </a:solidFill>
              <a:cs typeface="+mn-lt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charset="0"/>
              <a:buChar char=""/>
            </a:pPr>
            <a:r>
              <a:rPr lang="en-US" altLang="en-US" sz="2400" dirty="0">
                <a:solidFill>
                  <a:srgbClr val="000000"/>
                </a:solidFill>
                <a:cs typeface="+mn-lt"/>
              </a:rPr>
              <a:t>3-minute assessment by ASHA workers</a:t>
            </a:r>
            <a:endParaRPr lang="en-US" altLang="en-US" sz="2400" dirty="0">
              <a:solidFill>
                <a:srgbClr val="000000"/>
              </a:solidFill>
              <a:cs typeface="+mn-lt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charset="0"/>
              <a:buChar char=""/>
            </a:pPr>
            <a:r>
              <a:rPr lang="en-US" altLang="en-US" sz="2400" dirty="0">
                <a:solidFill>
                  <a:srgbClr val="000000"/>
                </a:solidFill>
                <a:cs typeface="+mn-lt"/>
              </a:rPr>
              <a:t>Instant alerts to PHC for high-risk cases</a:t>
            </a:r>
            <a:endParaRPr lang="en-US" altLang="en-US" sz="2400" dirty="0">
              <a:solidFill>
                <a:srgbClr val="000000"/>
              </a:solidFill>
              <a:cs typeface="+mn-lt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charset="0"/>
              <a:buChar char=""/>
            </a:pPr>
            <a:r>
              <a:rPr lang="en-US" altLang="en-US" sz="2400" dirty="0">
                <a:solidFill>
                  <a:srgbClr val="000000"/>
                </a:solidFill>
                <a:cs typeface="+mn-lt"/>
              </a:rPr>
              <a:t>Improved coordination between field workers and doctors</a:t>
            </a:r>
            <a:endParaRPr lang="en-US" altLang="en-US" sz="2400" dirty="0">
              <a:solidFill>
                <a:srgbClr val="000000"/>
              </a:solidFill>
              <a:cs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"/>
            </a:pPr>
            <a:r>
              <a:rPr lang="en-US" altLang="en-US" sz="2400" dirty="0">
                <a:solidFill>
                  <a:srgbClr val="000000"/>
                </a:solidFill>
                <a:cs typeface="+mn-lt"/>
              </a:rPr>
              <a:t>Provides a simple and effective solution for early anemia detection</a:t>
            </a:r>
            <a:endParaRPr lang="en-US" altLang="en-US" sz="2400" dirty="0">
              <a:solidFill>
                <a:srgbClr val="000000"/>
              </a:solidFill>
              <a:cs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"/>
            </a:pPr>
            <a:r>
              <a:rPr lang="en-US" altLang="en-US" sz="2400" dirty="0">
                <a:solidFill>
                  <a:srgbClr val="000000"/>
                </a:solidFill>
                <a:cs typeface="+mn-lt"/>
              </a:rPr>
              <a:t>Works in rural conditions with offline support</a:t>
            </a:r>
            <a:endParaRPr lang="en-US" altLang="en-US" sz="2400" dirty="0">
              <a:solidFill>
                <a:srgbClr val="000000"/>
              </a:solidFill>
              <a:cs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"/>
            </a:pPr>
            <a:r>
              <a:rPr lang="en-US" altLang="en-US" sz="2400" dirty="0">
                <a:solidFill>
                  <a:srgbClr val="000000"/>
                </a:solidFill>
                <a:cs typeface="+mn-lt"/>
              </a:rPr>
              <a:t>Enhances maternal healthcare through timely interventio</a:t>
            </a:r>
            <a:r>
              <a:rPr lang="en-US" altLang="en-US" sz="2400" b="1" dirty="0">
                <a:solidFill>
                  <a:srgbClr val="000000"/>
                </a:solidFill>
                <a:cs typeface="+mn-lt"/>
              </a:rPr>
              <a:t>n</a:t>
            </a:r>
            <a:endParaRPr lang="en-US" altLang="en-US" sz="2400" b="1" dirty="0">
              <a:solidFill>
                <a:srgbClr val="000000"/>
              </a:solidFill>
              <a:cs typeface="+mn-lt"/>
            </a:endParaRPr>
          </a:p>
          <a:p>
            <a:pPr>
              <a:lnSpc>
                <a:spcPct val="110000"/>
              </a:lnSpc>
            </a:pPr>
            <a:endParaRPr lang="en-US" sz="2400" b="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10000"/>
              </a:lnSpc>
            </a:pPr>
            <a:endParaRPr lang="en-US" sz="1800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10" name="BottomStrip"/>
          <p:cNvPicPr/>
          <p:nvPr/>
        </p:nvPicPr>
        <p:blipFill>
          <a:blip r:embed="rId1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111" name="RECLogo"/>
          <p:cNvPicPr/>
          <p:nvPr/>
        </p:nvPicPr>
        <p:blipFill>
          <a:blip r:embed="rId1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Screenshot 2026-04-27 at 22.48.3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635"/>
            <a:ext cx="12343765" cy="69964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8" name="Content Placeholder 7" descr="Screenshot 2026-04-27 at 22.48.3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635" y="-316230"/>
            <a:ext cx="12298680" cy="73672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Screenshot 2026-04-27 at 22.48.3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-234315"/>
            <a:ext cx="12384405" cy="72301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gPurp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BgCream"/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BgWhiteRound"/>
          <p:cNvSpPr/>
          <p:nvPr/>
        </p:nvSpPr>
        <p:spPr>
          <a:xfrm>
            <a:off x="408038" y="396312"/>
            <a:ext cx="11425084" cy="601734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030A0"/>
            </a:solidFill>
          </a:ln>
        </p:spPr>
        <p:txBody>
          <a:bodyPr/>
          <a:lstStyle/>
          <a:p/>
        </p:txBody>
      </p:sp>
      <p:sp>
        <p:nvSpPr>
          <p:cNvPr id="104" name="SlideTitle"/>
          <p:cNvSpPr txBox="1"/>
          <p:nvPr/>
        </p:nvSpPr>
        <p:spPr>
          <a:xfrm>
            <a:off x="700000" y="450000"/>
            <a:ext cx="107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Times New Roman" panose="02020603050405020304"/>
              </a:rPr>
              <a:t>Future Enhancements</a:t>
            </a:r>
            <a:endParaRPr lang="en-US" sz="3600" b="1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05" name="ContentBox"/>
          <p:cNvSpPr txBox="1"/>
          <p:nvPr/>
        </p:nvSpPr>
        <p:spPr>
          <a:xfrm>
            <a:off x="520295" y="1270800"/>
            <a:ext cx="10700000" cy="49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pPr marL="342900" indent="-342900">
              <a:lnSpc>
                <a:spcPct val="19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Calibri"/>
              </a:rPr>
              <a:t>Integration with government health systems (full PICME sync)</a:t>
            </a:r>
            <a:endParaRPr lang="en-US" altLang="en-US" sz="2400" dirty="0">
              <a:latin typeface="Calibri"/>
            </a:endParaRPr>
          </a:p>
          <a:p>
            <a:pPr marL="342900" indent="-342900">
              <a:lnSpc>
                <a:spcPct val="19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Calibri"/>
              </a:rPr>
              <a:t>Multilingual support for wider usability</a:t>
            </a:r>
            <a:endParaRPr lang="en-US" altLang="en-US" sz="2400" dirty="0">
              <a:latin typeface="Calibri"/>
            </a:endParaRPr>
          </a:p>
          <a:p>
            <a:pPr marL="342900" indent="-342900">
              <a:lnSpc>
                <a:spcPct val="19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Calibri"/>
              </a:rPr>
              <a:t>Advanced AI prediction for better accuracy</a:t>
            </a:r>
            <a:endParaRPr lang="en-US" altLang="en-US" sz="2400" dirty="0">
              <a:latin typeface="Calibri"/>
            </a:endParaRPr>
          </a:p>
          <a:p>
            <a:pPr marL="342900" indent="-342900">
              <a:lnSpc>
                <a:spcPct val="190000"/>
              </a:lnSpc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Calibri"/>
              </a:rPr>
              <a:t>Expansion to other maternal health conditions</a:t>
            </a:r>
            <a:r>
              <a:rPr lang="en-US" sz="1900" dirty="0">
                <a:latin typeface="Calibri"/>
              </a:rPr>
              <a:t>.</a:t>
            </a:r>
            <a:endParaRPr lang="en-US" sz="1900" dirty="0">
              <a:latin typeface="Calibri"/>
            </a:endParaRPr>
          </a:p>
        </p:txBody>
      </p:sp>
      <p:pic>
        <p:nvPicPr>
          <p:cNvPr id="110" name="BottomStrip"/>
          <p:cNvPicPr/>
          <p:nvPr/>
        </p:nvPicPr>
        <p:blipFill>
          <a:blip r:embed="rId1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111" name="RECLogo"/>
          <p:cNvPicPr/>
          <p:nvPr/>
        </p:nvPicPr>
        <p:blipFill>
          <a:blip r:embed="rId1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itle"/>
          <p:cNvSpPr txBox="1"/>
          <p:nvPr/>
        </p:nvSpPr>
        <p:spPr>
          <a:xfrm>
            <a:off x="838200" y="365125"/>
            <a:ext cx="10515600" cy="4747649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l"/>
            <a:r>
              <a:rPr lang="en-IN" sz="8000" b="1" dirty="0">
                <a:latin typeface="Calibri"/>
              </a:rPr>
              <a:t>THANK YOU!!!</a:t>
            </a:r>
            <a:endParaRPr lang="en-IN" sz="8000" b="1" dirty="0">
              <a:latin typeface="Calibri"/>
            </a:endParaRPr>
          </a:p>
        </p:txBody>
      </p:sp>
      <p:pic>
        <p:nvPicPr>
          <p:cNvPr id="8" name="TYBg"/>
          <p:cNvPicPr/>
          <p:nvPr/>
        </p:nvPicPr>
        <p:blipFill>
          <a:blip r:embed="rId1"/>
          <a:stretch>
            <a:fillRect/>
          </a:stretch>
        </p:blipFill>
        <p:spPr>
          <a:xfrm>
            <a:off x="-1" y="4708357"/>
            <a:ext cx="12191999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3916</Words>
  <Application>WPS Presentation</Application>
  <PresentationFormat>Widescreen</PresentationFormat>
  <Paragraphs>134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2" baseType="lpstr">
      <vt:lpstr>Arial</vt:lpstr>
      <vt:lpstr>SimSun</vt:lpstr>
      <vt:lpstr>Wingdings</vt:lpstr>
      <vt:lpstr>Times New Roman</vt:lpstr>
      <vt:lpstr>Calibri</vt:lpstr>
      <vt:lpstr>Helvetica Neue</vt:lpstr>
      <vt:lpstr>Microsoft YaHei</vt:lpstr>
      <vt:lpstr>汉仪旗黑</vt:lpstr>
      <vt:lpstr>Arial Unicode MS</vt:lpstr>
      <vt:lpstr>Calibri Light</vt:lpstr>
      <vt:lpstr>宋体-简</vt:lpstr>
      <vt:lpstr>Apple Color Emoji</vt:lpstr>
      <vt:lpstr>Calibri</vt:lpstr>
      <vt:lpstr>汉仪中简黑简</vt:lpstr>
      <vt:lpstr>Times New Roman Regular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 Ganesh P</dc:creator>
  <cp:lastModifiedBy>MELDONA L 241501108</cp:lastModifiedBy>
  <cp:revision>7</cp:revision>
  <dcterms:created xsi:type="dcterms:W3CDTF">2026-04-27T18:03:33Z</dcterms:created>
  <dcterms:modified xsi:type="dcterms:W3CDTF">2026-04-27T18:03:33Z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432F554793A9C0934D38E76913B0E39A_42</vt:lpwstr>
  </property>
  <property fmtid="{D5CDD505-2E9C-101B-9397-08002B2CF9AE}" pid="3" name="KSOProductBuildVer">
    <vt:lpwstr>1033-6.14.0.8716</vt:lpwstr>
  </property>
</Properties>
</file>